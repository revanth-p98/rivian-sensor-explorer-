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dgZn8+D05tWHe/mKDH6q/mlkp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1005840"/>
            <a:ext cx="109728" cy="310896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" y="91440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Vehicle Sensor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Explorer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30175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F5E2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D4F5E2"/>
                </a:solidFill>
                <a:latin typeface="Arial"/>
                <a:ea typeface="Arial"/>
                <a:cs typeface="Arial"/>
                <a:sym typeface="Arial"/>
              </a:rPr>
              <a:t>Full-Stack Data Pipeline &amp; Visualization Tool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3520440"/>
            <a:ext cx="2743200" cy="22860"/>
          </a:xfrm>
          <a:prstGeom prst="rect">
            <a:avLst/>
          </a:prstGeom>
          <a:solidFill>
            <a:srgbClr val="007A3D"/>
          </a:solidFill>
          <a:ln cap="flat" cmpd="sng" w="12700">
            <a:solidFill>
              <a:srgbClr val="00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7724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Revanth Pattela</a:t>
            </a: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 ·  pattelarevanth@gmail.com  ·  Huntsville, 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943600" y="822960"/>
            <a:ext cx="2926080" cy="39319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126480" y="10058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BUILT WITH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80760" y="1417320"/>
            <a:ext cx="13258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172200" y="15087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172200" y="180136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98080" y="1417320"/>
            <a:ext cx="13258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589520" y="15087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589520" y="180136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Data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080760" y="2377440"/>
            <a:ext cx="13258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172200" y="246888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172200" y="27614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498080" y="2377440"/>
            <a:ext cx="13258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589520" y="246888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Recharts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589520" y="27614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080760" y="3337560"/>
            <a:ext cx="13258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172200" y="34290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172200" y="372160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4 Endpoints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498080" y="3337560"/>
            <a:ext cx="1325880" cy="74980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589520" y="34290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589520" y="372160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A3D"/>
          </a:solidFill>
          <a:ln cap="flat" cmpd="sng" w="12700">
            <a:solidFill>
              <a:srgbClr val="00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for Rivian  —  Software Engineering Intern, Data Tools &amp; Autonomy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01  /  PROBLEM STATEMENT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502920"/>
            <a:ext cx="4754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Data Challenge at Scale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1389888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Rivian's autonomy team captures sensor data from every test vehicle petabytes of speed, GPS, battery, and camera data that engineers need to search, filter, and visualize to validate autonomous driving performance.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394960" y="502920"/>
            <a:ext cx="3474720" cy="123444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394960" y="502920"/>
            <a:ext cx="73152" cy="123444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552" y="685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5989320" y="640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 to find specific 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989320" y="10058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No fast way to search across millions of data 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394960" y="1920240"/>
            <a:ext cx="3474720" cy="123444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394960" y="1920240"/>
            <a:ext cx="73152" cy="123444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9552" y="21031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5989320" y="2057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visualization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989320" y="24231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Raw CSV files can't show trends or anomalies quickly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94960" y="3337560"/>
            <a:ext cx="3474720" cy="123444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394960" y="3337560"/>
            <a:ext cx="73152" cy="123444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9552" y="3520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5989320" y="3474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locked in pipelines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989320" y="38404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Engineers can't export subsets for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57200" y="3017520"/>
            <a:ext cx="4389120" cy="15544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00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40080" y="315468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Petabytes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40080" y="365760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of vehicle sensor data generated per year across Rivian's test fleet — speed, GPS, battery, motor temp, camera, LiDAR, and radar.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02  /  MY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I Built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1353312"/>
            <a:ext cx="4114800" cy="1664208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65760" y="2962656"/>
            <a:ext cx="41148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48640" y="1499616"/>
            <a:ext cx="502920" cy="502920"/>
          </a:xfrm>
          <a:prstGeom prst="ellipse">
            <a:avLst/>
          </a:prstGeom>
          <a:solidFill>
            <a:srgbClr val="1E1E1E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572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1170432" y="149961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02920" y="19202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script generates 1,500 simulated vehicle sensor records</a:t>
            </a:r>
            <a:r>
              <a:rPr lang="en-US" sz="1050">
                <a:solidFill>
                  <a:srgbClr val="888888"/>
                </a:solidFill>
              </a:rPr>
              <a:t> </a:t>
            </a:r>
            <a:r>
              <a:rPr b="0" i="0" lang="en-US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speed, GPS, battery %, motor temp across 3 driving sessions (highway, city, off-road)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54880" y="1353312"/>
            <a:ext cx="4114800" cy="1664208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754880" y="2962656"/>
            <a:ext cx="41148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937760" y="1499616"/>
            <a:ext cx="502920" cy="502920"/>
          </a:xfrm>
          <a:prstGeom prst="ellipse">
            <a:avLst/>
          </a:prstGeom>
          <a:solidFill>
            <a:srgbClr val="1E1E1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912" y="1572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5559552" y="149961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 API 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892040" y="19202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FastAPI server exposes 5 endpoints: sessions list, session detail, search/filter, statistics summary, and CSV export. Auto-docs generated at /docs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5760" y="3182112"/>
            <a:ext cx="4114800" cy="1664208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65760" y="4791456"/>
            <a:ext cx="411480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1E1E1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" y="34015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170432" y="332841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02920" y="37490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Single-page dashboard with session sidebar, live stats cards, and interactive time-series charts for speed, battery, and motor 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54880" y="3182112"/>
            <a:ext cx="4114800" cy="1664208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754880" y="4791456"/>
            <a:ext cx="41148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937760" y="3328416"/>
            <a:ext cx="502920" cy="502920"/>
          </a:xfrm>
          <a:prstGeom prst="ellipse">
            <a:avLst/>
          </a:prstGeom>
          <a:solidFill>
            <a:srgbClr val="1E1E1E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0912" y="34015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5559552" y="332841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&amp; Export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892040" y="37490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Filter data by route type, speed range, and battery level. Download any session as a CSV file same workflow Rivian engineers use for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03  /  TECH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Technologies &amp; Why I Chose Them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65760" y="1280160"/>
            <a:ext cx="4114800" cy="10972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65760" y="1280160"/>
            <a:ext cx="64008" cy="109728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4173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960120" y="137160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Data Ingestion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60120" y="162763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+ pandas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2920" y="19385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Industry standard for tabular data pipelines. In production this would be Apache Spark on BigQuery.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54880" y="1280160"/>
            <a:ext cx="4114800" cy="10972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754880" y="1280160"/>
            <a:ext cx="64008" cy="10972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14173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5349240" y="137160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Backend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349240" y="162763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892040" y="19385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Auto-generates interactive API docs, supports async, production-ready. Matches Rivian's Python/Go requirement.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65760" y="2514600"/>
            <a:ext cx="4114800" cy="10972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65760" y="2514600"/>
            <a:ext cx="64008" cy="109728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960120" y="260604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60120" y="286207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+ JavaScript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02920" y="3172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Component-based reactive UI. Industry standard. TypeScript-compatible for the job's TS requirement.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54880" y="2514600"/>
            <a:ext cx="4114800" cy="10972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754880" y="2514600"/>
            <a:ext cx="64008" cy="109728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5349240" y="260604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349240" y="286207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Recharts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92040" y="3172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React-native charting library with responsive sizing. Handles high-frequency time-series data cleanly.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3749040"/>
            <a:ext cx="4114800" cy="10972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65760" y="3749040"/>
            <a:ext cx="64008" cy="10972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886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960120" y="38404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API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60120" y="409651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  (5 endpoints)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02920" y="440740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Standard RESTful design with clear separation — sessions, data, search, stats, and export endpoints.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754880" y="3749040"/>
            <a:ext cx="4114800" cy="10972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754880" y="3749040"/>
            <a:ext cx="64008" cy="109728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9472" y="3886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/>
          <p:nvPr/>
        </p:nvSpPr>
        <p:spPr>
          <a:xfrm>
            <a:off x="5349240" y="38404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Version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349240" y="409651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 +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892040" y="440740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Public repository. Commit history shows iterative development process and clean code practices.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04  / 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Architecture &amp; Data Flow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56032" y="1325880"/>
            <a:ext cx="1417320" cy="1371600"/>
          </a:xfrm>
          <a:prstGeom prst="rect">
            <a:avLst/>
          </a:prstGeom>
          <a:solidFill>
            <a:srgbClr val="161616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F5A623">
              <a:alpha val="14901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329184" y="2039112"/>
            <a:ext cx="1271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Sensor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29184" y="235000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sensor_data.csv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1,500 rows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691640" y="1965960"/>
            <a:ext cx="292608" cy="64008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856232" y="187452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057400" y="1325880"/>
            <a:ext cx="1417320" cy="1371600"/>
          </a:xfrm>
          <a:prstGeom prst="rect">
            <a:avLst/>
          </a:prstGeom>
          <a:solidFill>
            <a:srgbClr val="161616"/>
          </a:solidFill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487168" y="1417320"/>
            <a:ext cx="548640" cy="548640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1176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2130552" y="2039112"/>
            <a:ext cx="1271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FastAPI 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130552" y="235000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localhost:8000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493008" y="1965960"/>
            <a:ext cx="292608" cy="64008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3657600" y="187452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858768" y="1325880"/>
            <a:ext cx="1417320" cy="1371600"/>
          </a:xfrm>
          <a:prstGeom prst="rect">
            <a:avLst/>
          </a:prstGeom>
          <a:solidFill>
            <a:srgbClr val="161616"/>
          </a:solidFill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288536" y="1417320"/>
            <a:ext cx="548640" cy="548640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44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3931920" y="2039112"/>
            <a:ext cx="1271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931920" y="235000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REST / 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294376" y="1965960"/>
            <a:ext cx="292608" cy="64008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458968" y="187452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660136" y="1325880"/>
            <a:ext cx="1417320" cy="1371600"/>
          </a:xfrm>
          <a:prstGeom prst="rect">
            <a:avLst/>
          </a:prstGeom>
          <a:solidFill>
            <a:srgbClr val="161616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089904" y="1417320"/>
            <a:ext cx="548640" cy="548640"/>
          </a:xfrm>
          <a:prstGeom prst="ellipse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3912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/>
          <p:nvPr/>
        </p:nvSpPr>
        <p:spPr>
          <a:xfrm>
            <a:off x="5733288" y="2039112"/>
            <a:ext cx="1271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733288" y="235000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localhost:3000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095744" y="1965960"/>
            <a:ext cx="292608" cy="64008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7260336" y="187452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7461504" y="1325880"/>
            <a:ext cx="1417320" cy="1371600"/>
          </a:xfrm>
          <a:prstGeom prst="rect">
            <a:avLst/>
          </a:prstGeom>
          <a:solidFill>
            <a:srgbClr val="161616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7891272" y="1417320"/>
            <a:ext cx="548640" cy="548640"/>
          </a:xfrm>
          <a:prstGeom prst="ellipse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55280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/>
          <p:nvPr/>
        </p:nvSpPr>
        <p:spPr>
          <a:xfrm>
            <a:off x="7534656" y="2039112"/>
            <a:ext cx="1271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534656" y="235000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Charts + 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KEY ARCHITECTURAL DECISIONS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65760" y="3246120"/>
            <a:ext cx="2743200" cy="15087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33649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/>
          <p:nvPr/>
        </p:nvSpPr>
        <p:spPr>
          <a:xfrm>
            <a:off x="914400" y="333756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Separation of concerns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30352" y="374904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Frontend and backend are completely separate services, making each independently deployable and testable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291840" y="3246120"/>
            <a:ext cx="2743200" cy="15087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56432" y="33649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"/>
          <p:cNvSpPr/>
          <p:nvPr/>
        </p:nvSpPr>
        <p:spPr>
          <a:xfrm>
            <a:off x="3840480" y="333756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Stateless REST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456432" y="374904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Each request is independent. No session state on server scales horizontally to handle many concurrent 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217920" y="3246120"/>
            <a:ext cx="2743200" cy="15087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2512" y="33649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/>
          <p:nvPr/>
        </p:nvSpPr>
        <p:spPr>
          <a:xfrm>
            <a:off x="6766560" y="333756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In-memory 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382512" y="374904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pandas loads CSV into RAM on startup</a:t>
            </a:r>
            <a:r>
              <a:rPr lang="en-US" sz="1000">
                <a:solidFill>
                  <a:srgbClr val="888888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fast query response. Production would use a distributed query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05  /  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FastAPI Backend — 5 Endpoints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65760" y="1325880"/>
            <a:ext cx="4663440" cy="347472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48640" y="14630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# FastAPI — main.py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48640" y="18013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@app.get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463040" y="18013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Consolas"/>
                <a:ea typeface="Consolas"/>
                <a:cs typeface="Consolas"/>
                <a:sym typeface="Consolas"/>
              </a:rPr>
              <a:t>('/api/stats')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291840" y="18013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  → Overall statistics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8640" y="23317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@app.get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46304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Consolas"/>
                <a:ea typeface="Consolas"/>
                <a:cs typeface="Consolas"/>
                <a:sym typeface="Consolas"/>
              </a:rPr>
              <a:t>('/api/sessions')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291840" y="23317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  → List all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48640" y="28620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@app.get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463040" y="28620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Consolas"/>
                <a:ea typeface="Consolas"/>
                <a:cs typeface="Consolas"/>
                <a:sym typeface="Consolas"/>
              </a:rPr>
              <a:t>('/api/session/{id}')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3291840" y="286207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  → Session data + 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48640" y="33924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@app.get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1463040" y="33924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Consolas"/>
                <a:ea typeface="Consolas"/>
                <a:cs typeface="Consolas"/>
                <a:sym typeface="Consolas"/>
              </a:rPr>
              <a:t>('/api/search')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291840" y="339242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  → Filter by params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48640" y="392277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@app.get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463040" y="39227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A651"/>
                </a:solidFill>
                <a:latin typeface="Consolas"/>
                <a:ea typeface="Consolas"/>
                <a:cs typeface="Consolas"/>
                <a:sym typeface="Consolas"/>
              </a:rPr>
              <a:t>('/api/export/{id}')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291840" y="39227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  → Download 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507992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# Auto-docs at http://localhost:8000/docs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212080" y="1325880"/>
            <a:ext cx="3657600" cy="1024128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5212080" y="1325880"/>
            <a:ext cx="64008" cy="1024128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4356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5833872" y="141732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filtering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376672" y="180136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Search accepts optional query params route_type, min_speed, max_speed, min_battery. Filters are applied in sequence using pandas boolean indexing.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212080" y="2496312"/>
            <a:ext cx="3657600" cy="1024128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5212080" y="2496312"/>
            <a:ext cx="64008" cy="102412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6672" y="26060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/>
          <p:nvPr/>
        </p:nvSpPr>
        <p:spPr>
          <a:xfrm>
            <a:off x="5833872" y="258775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Auto-generated docs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376672" y="297180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FastAPI creates interactive Swagger UI at /docs automatically no extra code. Engineers can test every endpoint live in the browser.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212080" y="3666744"/>
            <a:ext cx="3657600" cy="1024128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5212080" y="3666744"/>
            <a:ext cx="64008" cy="102412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6672" y="37764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6"/>
          <p:cNvSpPr/>
          <p:nvPr/>
        </p:nvSpPr>
        <p:spPr>
          <a:xfrm>
            <a:off x="5833872" y="3758184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CORS configured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376672" y="414223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Cross-Origin Resource Sharing middleware allows the React frontend on port 3000 to call the API on port 8000</a:t>
            </a:r>
            <a:r>
              <a:rPr lang="en-US" sz="950">
                <a:solidFill>
                  <a:srgbClr val="888888"/>
                </a:solidFill>
              </a:rPr>
              <a:t>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solved a real deployment challenge.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06  /  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7200" y="475488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React Dashboard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 Live Charts + Search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029200" y="411480"/>
            <a:ext cx="3840480" cy="43434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029200" y="411480"/>
            <a:ext cx="3840480" cy="36576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5120640" y="4572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🚙  Rivian Sensor Data Explorer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074920" y="822960"/>
            <a:ext cx="877824" cy="530352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5111496" y="841248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1,500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111496" y="1115568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Data Points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007608" y="822960"/>
            <a:ext cx="877824" cy="530352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044184" y="841248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044184" y="1115568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940296" y="822960"/>
            <a:ext cx="877824" cy="530352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6976872" y="841248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35.2 mph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976872" y="1115568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Avg Speed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7872984" y="822960"/>
            <a:ext cx="877824" cy="530352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7909560" y="841248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81.4%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7909560" y="1115568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Avg Battery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029200" y="1417320"/>
            <a:ext cx="868680" cy="33375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5074920" y="14630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074920" y="1737360"/>
            <a:ext cx="758952" cy="347472"/>
          </a:xfrm>
          <a:prstGeom prst="rect">
            <a:avLst/>
          </a:prstGeom>
          <a:solidFill>
            <a:srgbClr val="00A651"/>
          </a:solidFill>
          <a:ln cap="flat" cmpd="sng" w="9525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5093208" y="1764792"/>
            <a:ext cx="722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session_001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074920" y="2148840"/>
            <a:ext cx="758952" cy="34747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5093208" y="2176272"/>
            <a:ext cx="722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session_002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074920" y="2560320"/>
            <a:ext cx="758952" cy="34747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5093208" y="2587752"/>
            <a:ext cx="722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session_003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943600" y="1463040"/>
            <a:ext cx="2880360" cy="9601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6016752" y="152704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Over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7"/>
          <p:cNvCxnSpPr/>
          <p:nvPr/>
        </p:nvCxnSpPr>
        <p:spPr>
          <a:xfrm>
            <a:off x="6035040" y="1810512"/>
            <a:ext cx="210312" cy="144309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7"/>
          <p:cNvCxnSpPr/>
          <p:nvPr/>
        </p:nvCxnSpPr>
        <p:spPr>
          <a:xfrm>
            <a:off x="6245352" y="1954821"/>
            <a:ext cx="210312" cy="56773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7"/>
          <p:cNvCxnSpPr/>
          <p:nvPr/>
        </p:nvCxnSpPr>
        <p:spPr>
          <a:xfrm flipH="1" rot="10800000">
            <a:off x="6455664" y="1946393"/>
            <a:ext cx="210312" cy="65201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7"/>
          <p:cNvCxnSpPr/>
          <p:nvPr/>
        </p:nvCxnSpPr>
        <p:spPr>
          <a:xfrm flipH="1" rot="10800000">
            <a:off x="6665976" y="1798769"/>
            <a:ext cx="210312" cy="147625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7"/>
          <p:cNvCxnSpPr/>
          <p:nvPr/>
        </p:nvCxnSpPr>
        <p:spPr>
          <a:xfrm flipH="1" rot="10800000">
            <a:off x="6876288" y="1658268"/>
            <a:ext cx="210312" cy="140501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7"/>
          <p:cNvCxnSpPr/>
          <p:nvPr/>
        </p:nvCxnSpPr>
        <p:spPr>
          <a:xfrm flipH="1" rot="10800000">
            <a:off x="7086600" y="1610116"/>
            <a:ext cx="210312" cy="48152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7"/>
          <p:cNvCxnSpPr/>
          <p:nvPr/>
        </p:nvCxnSpPr>
        <p:spPr>
          <a:xfrm>
            <a:off x="7296912" y="1610116"/>
            <a:ext cx="210312" cy="73406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7"/>
          <p:cNvCxnSpPr/>
          <p:nvPr/>
        </p:nvCxnSpPr>
        <p:spPr>
          <a:xfrm>
            <a:off x="7507224" y="1683521"/>
            <a:ext cx="210312" cy="150437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7"/>
          <p:cNvCxnSpPr/>
          <p:nvPr/>
        </p:nvCxnSpPr>
        <p:spPr>
          <a:xfrm>
            <a:off x="7717536" y="1833958"/>
            <a:ext cx="210312" cy="136215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7"/>
          <p:cNvCxnSpPr/>
          <p:nvPr/>
        </p:nvCxnSpPr>
        <p:spPr>
          <a:xfrm>
            <a:off x="7927848" y="1970173"/>
            <a:ext cx="210312" cy="39367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7"/>
          <p:cNvCxnSpPr/>
          <p:nvPr/>
        </p:nvCxnSpPr>
        <p:spPr>
          <a:xfrm flipH="1" rot="10800000">
            <a:off x="8138160" y="1928178"/>
            <a:ext cx="210312" cy="81361"/>
          </a:xfrm>
          <a:prstGeom prst="straightConnector1">
            <a:avLst/>
          </a:prstGeom>
          <a:noFill/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7"/>
          <p:cNvSpPr/>
          <p:nvPr/>
        </p:nvSpPr>
        <p:spPr>
          <a:xfrm>
            <a:off x="5943600" y="2560320"/>
            <a:ext cx="2880360" cy="9601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016752" y="262432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Battery Level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7"/>
          <p:cNvCxnSpPr/>
          <p:nvPr/>
        </p:nvCxnSpPr>
        <p:spPr>
          <a:xfrm>
            <a:off x="6035040" y="3077069"/>
            <a:ext cx="210312" cy="2663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7"/>
          <p:cNvCxnSpPr/>
          <p:nvPr/>
        </p:nvCxnSpPr>
        <p:spPr>
          <a:xfrm flipH="1" rot="10800000">
            <a:off x="6245352" y="3011494"/>
            <a:ext cx="210312" cy="92205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7"/>
          <p:cNvCxnSpPr/>
          <p:nvPr/>
        </p:nvCxnSpPr>
        <p:spPr>
          <a:xfrm flipH="1" rot="10800000">
            <a:off x="6455664" y="2856385"/>
            <a:ext cx="210312" cy="155109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7"/>
          <p:cNvCxnSpPr/>
          <p:nvPr/>
        </p:nvCxnSpPr>
        <p:spPr>
          <a:xfrm flipH="1" rot="10800000">
            <a:off x="6665976" y="2732459"/>
            <a:ext cx="210312" cy="123926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7"/>
          <p:cNvCxnSpPr/>
          <p:nvPr/>
        </p:nvCxnSpPr>
        <p:spPr>
          <a:xfrm flipH="1" rot="10800000">
            <a:off x="6876288" y="2714887"/>
            <a:ext cx="210312" cy="17572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7"/>
          <p:cNvCxnSpPr/>
          <p:nvPr/>
        </p:nvCxnSpPr>
        <p:spPr>
          <a:xfrm>
            <a:off x="7086600" y="2714887"/>
            <a:ext cx="210312" cy="99442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7"/>
          <p:cNvCxnSpPr/>
          <p:nvPr/>
        </p:nvCxnSpPr>
        <p:spPr>
          <a:xfrm>
            <a:off x="7296912" y="2814329"/>
            <a:ext cx="210312" cy="156135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7"/>
          <p:cNvCxnSpPr/>
          <p:nvPr/>
        </p:nvCxnSpPr>
        <p:spPr>
          <a:xfrm>
            <a:off x="7507224" y="2970464"/>
            <a:ext cx="210312" cy="118119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7"/>
          <p:cNvCxnSpPr/>
          <p:nvPr/>
        </p:nvCxnSpPr>
        <p:spPr>
          <a:xfrm>
            <a:off x="7717536" y="3088583"/>
            <a:ext cx="210312" cy="8454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7927848" y="2990697"/>
            <a:ext cx="210312" cy="10634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7"/>
          <p:cNvCxnSpPr/>
          <p:nvPr/>
        </p:nvCxnSpPr>
        <p:spPr>
          <a:xfrm flipH="1" rot="10800000">
            <a:off x="8138160" y="2834068"/>
            <a:ext cx="210312" cy="156629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7"/>
          <p:cNvSpPr/>
          <p:nvPr/>
        </p:nvSpPr>
        <p:spPr>
          <a:xfrm>
            <a:off x="5943600" y="3657600"/>
            <a:ext cx="2880360" cy="9601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6016752" y="372160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Motor Temp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7"/>
          <p:cNvCxnSpPr/>
          <p:nvPr/>
        </p:nvCxnSpPr>
        <p:spPr>
          <a:xfrm flipH="1" rot="10800000">
            <a:off x="6035040" y="4072461"/>
            <a:ext cx="210312" cy="115533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7"/>
          <p:cNvCxnSpPr/>
          <p:nvPr/>
        </p:nvCxnSpPr>
        <p:spPr>
          <a:xfrm flipH="1" rot="10800000">
            <a:off x="6245352" y="3916051"/>
            <a:ext cx="210312" cy="156410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7"/>
          <p:cNvCxnSpPr/>
          <p:nvPr/>
        </p:nvCxnSpPr>
        <p:spPr>
          <a:xfrm flipH="1" rot="10800000">
            <a:off x="6455664" y="3813640"/>
            <a:ext cx="210312" cy="102411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7"/>
          <p:cNvCxnSpPr/>
          <p:nvPr/>
        </p:nvCxnSpPr>
        <p:spPr>
          <a:xfrm>
            <a:off x="6665976" y="3813640"/>
            <a:ext cx="210312" cy="13709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7"/>
          <p:cNvCxnSpPr/>
          <p:nvPr/>
        </p:nvCxnSpPr>
        <p:spPr>
          <a:xfrm>
            <a:off x="6876288" y="3827349"/>
            <a:ext cx="210312" cy="121513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7"/>
          <p:cNvCxnSpPr/>
          <p:nvPr/>
        </p:nvCxnSpPr>
        <p:spPr>
          <a:xfrm>
            <a:off x="7086600" y="3948863"/>
            <a:ext cx="210312" cy="155609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7"/>
          <p:cNvCxnSpPr/>
          <p:nvPr/>
        </p:nvCxnSpPr>
        <p:spPr>
          <a:xfrm>
            <a:off x="7296912" y="4104472"/>
            <a:ext cx="210312" cy="95315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7"/>
          <p:cNvCxnSpPr/>
          <p:nvPr/>
        </p:nvCxnSpPr>
        <p:spPr>
          <a:xfrm flipH="1" rot="10800000">
            <a:off x="7507224" y="4176989"/>
            <a:ext cx="210312" cy="22797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7"/>
          <p:cNvCxnSpPr/>
          <p:nvPr/>
        </p:nvCxnSpPr>
        <p:spPr>
          <a:xfrm flipH="1" rot="10800000">
            <a:off x="7717536" y="4049910"/>
            <a:ext cx="210312" cy="127080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7"/>
          <p:cNvCxnSpPr/>
          <p:nvPr/>
        </p:nvCxnSpPr>
        <p:spPr>
          <a:xfrm flipH="1" rot="10800000">
            <a:off x="7927848" y="3895632"/>
            <a:ext cx="210312" cy="154278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7"/>
          <p:cNvCxnSpPr/>
          <p:nvPr/>
        </p:nvCxnSpPr>
        <p:spPr>
          <a:xfrm flipH="1" rot="10800000">
            <a:off x="8138160" y="3807739"/>
            <a:ext cx="210312" cy="87893"/>
          </a:xfrm>
          <a:prstGeom prst="straightConnector1">
            <a:avLst/>
          </a:prstGeom>
          <a:noFill/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7"/>
          <p:cNvSpPr/>
          <p:nvPr/>
        </p:nvSpPr>
        <p:spPr>
          <a:xfrm>
            <a:off x="365760" y="1819656"/>
            <a:ext cx="402336" cy="402336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8928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7"/>
          <p:cNvSpPr/>
          <p:nvPr/>
        </p:nvSpPr>
        <p:spPr>
          <a:xfrm>
            <a:off x="877824" y="181965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chart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877824" y="209397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Real-time line chart plotting speed_mph across the session using Recharts LineChart with ResponsiveContainer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365760" y="2569464"/>
            <a:ext cx="402336" cy="402336"/>
          </a:xfrm>
          <a:prstGeom prst="ellipse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2642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7"/>
          <p:cNvSpPr/>
          <p:nvPr/>
        </p:nvSpPr>
        <p:spPr>
          <a:xfrm>
            <a:off x="877824" y="25694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Battery chart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877824" y="2843784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Battery percentage plotted over time — shows drain rate across highway, city, and off-road sessions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365760" y="3319272"/>
            <a:ext cx="402336" cy="402336"/>
          </a:xfrm>
          <a:prstGeom prst="ellipse">
            <a:avLst/>
          </a:prstGeom>
          <a:solidFill>
            <a:srgbClr val="F5A623">
              <a:alpha val="14901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3392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7"/>
          <p:cNvSpPr/>
          <p:nvPr/>
        </p:nvSpPr>
        <p:spPr>
          <a:xfrm>
            <a:off x="877824" y="33192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Motor temp chart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877824" y="359359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Temperature monitoring </a:t>
            </a:r>
            <a:r>
              <a:rPr lang="en-US" sz="950">
                <a:solidFill>
                  <a:srgbClr val="888888"/>
                </a:solidFill>
              </a:rPr>
              <a:t>c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ritical for autonomy validation. Shows correlation between speed and thermal 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365760" y="4069080"/>
            <a:ext cx="402336" cy="402336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" y="41422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7"/>
          <p:cNvSpPr/>
          <p:nvPr/>
        </p:nvSpPr>
        <p:spPr>
          <a:xfrm>
            <a:off x="877824" y="406908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panel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877824" y="43434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Filter by route type, speed range, and battery level. Returns match count instantly via /api/search endpoint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7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07  /  PIPELINE WALKTHROUGH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End-to-End Data Pipeline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20040" y="1325880"/>
            <a:ext cx="2029968" cy="34747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320040" y="1325880"/>
            <a:ext cx="2029968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1005840" y="1463040"/>
            <a:ext cx="658368" cy="658368"/>
          </a:xfrm>
          <a:prstGeom prst="ellipse">
            <a:avLst/>
          </a:prstGeom>
          <a:solidFill>
            <a:srgbClr val="F5A623">
              <a:alpha val="14901"/>
            </a:srgbClr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1005840" y="14630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411480" y="2240280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57200" y="269748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generates 1,500 sensor rows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57200" y="32004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 sessions × 500 data points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57200" y="370332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 columns: speed, GPS, battery,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motor temp, timestamp, route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2350008" y="2834640"/>
            <a:ext cx="164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2496312" y="1325880"/>
            <a:ext cx="2029968" cy="34747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2496312" y="1325880"/>
            <a:ext cx="2029968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3182112" y="1463040"/>
            <a:ext cx="658368" cy="658368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3182112" y="14630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2587752" y="2240280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2633472" y="269748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pandas loads CSV into DataFrame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2633472" y="32004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Boolean filtering for 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2633472" y="370332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GroupBy for session stats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2633472" y="420624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In-memory for low latency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4526280" y="2834640"/>
            <a:ext cx="164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672584" y="1325880"/>
            <a:ext cx="2029968" cy="34747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4672584" y="1325880"/>
            <a:ext cx="2029968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5358384" y="1463040"/>
            <a:ext cx="658368" cy="658368"/>
          </a:xfrm>
          <a:prstGeom prst="ellipse">
            <a:avLst/>
          </a:prstGeom>
          <a:solidFill>
            <a:srgbClr val="3B82F6">
              <a:alpha val="14901"/>
            </a:srgbClr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5358384" y="14630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764024" y="2240280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809744" y="269748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FastAPI serializes to 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809744" y="32004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CORS middleware configured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809744" y="370332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 RESTful endpoints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809744" y="420624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Auto Swagger docs at /docs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6702552" y="2834640"/>
            <a:ext cx="164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6848856" y="1325880"/>
            <a:ext cx="2029968" cy="34747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6848856" y="1325880"/>
            <a:ext cx="2029968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7534656" y="1463040"/>
            <a:ext cx="658368" cy="658368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905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7534656" y="14630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6940296" y="2240280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6986016" y="269748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axios fetches data from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6986016" y="32004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React state triggers re-render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6986016" y="370332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Recharts draws line charts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6986016" y="420624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›  </a:t>
            </a: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Responsive, real-time updates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320040" y="4864608"/>
            <a:ext cx="8503920" cy="73152"/>
          </a:xfrm>
          <a:prstGeom prst="rect">
            <a:avLst/>
          </a:prstGeom>
          <a:solidFill>
            <a:srgbClr val="007A3D"/>
          </a:solidFill>
          <a:ln cap="flat" cmpd="sng" w="12700">
            <a:solidFill>
              <a:srgbClr val="00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320040" y="4864608"/>
            <a:ext cx="85039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production at Rivian: CSV  →  distributed database (BigQuery/Snowflake)  ·  In-memory  →  Apache Spark  ·  JSON  →  gRPC / streaming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08  /  CHALLENGES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Challenges I Solved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365760" y="1325880"/>
            <a:ext cx="8412480" cy="10515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365760" y="1325880"/>
            <a:ext cx="64008" cy="105156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502920" y="1435608"/>
            <a:ext cx="749808" cy="237744"/>
          </a:xfrm>
          <a:prstGeom prst="rect">
            <a:avLst/>
          </a:prstGeom>
          <a:solidFill>
            <a:srgbClr val="F5A623">
              <a:alpha val="20000"/>
            </a:srgbClr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502920" y="143560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1353312" y="14173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CORS blocked the connection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1353312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The browser refused to let React on port 3000 call FastAPI on port 8000 a security policy called Cross-Origin Resource Sharing.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663440" y="1435608"/>
            <a:ext cx="749808" cy="237744"/>
          </a:xfrm>
          <a:prstGeom prst="rect">
            <a:avLst/>
          </a:prstGeom>
          <a:solidFill>
            <a:srgbClr val="00A651">
              <a:alpha val="20000"/>
            </a:srgbClr>
          </a:solidFill>
          <a:ln cap="flat" cmpd="sng" w="9525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4663440" y="143560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5532120" y="1417320"/>
            <a:ext cx="31089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Added FastAPI CORSMiddleware with the frontend's origin explicitly whitelisted. Required understanding HTTP request headers.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9"/>
          <p:cNvCxnSpPr/>
          <p:nvPr/>
        </p:nvCxnSpPr>
        <p:spPr>
          <a:xfrm>
            <a:off x="4617720" y="1463040"/>
            <a:ext cx="0" cy="777240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9"/>
          <p:cNvSpPr/>
          <p:nvPr/>
        </p:nvSpPr>
        <p:spPr>
          <a:xfrm>
            <a:off x="365760" y="2514600"/>
            <a:ext cx="8412480" cy="10515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365760" y="2514600"/>
            <a:ext cx="64008" cy="105156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502920" y="2624328"/>
            <a:ext cx="749808" cy="237744"/>
          </a:xfrm>
          <a:prstGeom prst="rect">
            <a:avLst/>
          </a:prstGeom>
          <a:solidFill>
            <a:srgbClr val="00A651">
              <a:alpha val="20000"/>
            </a:srgbClr>
          </a:solidFill>
          <a:ln cap="flat" cmpd="sng" w="9525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502920" y="26243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1353312" y="26060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Charts showed too many 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1353312" y="29718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Plotting 500 data points at once made the LineChart slow and the lines unreadable too much noise in the visualization.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4663440" y="2624328"/>
            <a:ext cx="749808" cy="237744"/>
          </a:xfrm>
          <a:prstGeom prst="rect">
            <a:avLst/>
          </a:prstGeom>
          <a:solidFill>
            <a:srgbClr val="00A651">
              <a:alpha val="20000"/>
            </a:srgbClr>
          </a:solidFill>
          <a:ln cap="flat" cmpd="sng" w="9525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4663440" y="26243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5532120" y="2606040"/>
            <a:ext cx="31089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Added a 'limit' parameter to the session endpoint (default 100). The frontend requests only the first N data points, making charts fast and clean.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9"/>
          <p:cNvCxnSpPr/>
          <p:nvPr/>
        </p:nvCxnSpPr>
        <p:spPr>
          <a:xfrm>
            <a:off x="4617720" y="2651760"/>
            <a:ext cx="0" cy="777240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9"/>
          <p:cNvSpPr/>
          <p:nvPr/>
        </p:nvSpPr>
        <p:spPr>
          <a:xfrm>
            <a:off x="365760" y="3703320"/>
            <a:ext cx="8412480" cy="10515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365760" y="370332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502920" y="3813048"/>
            <a:ext cx="749808" cy="237744"/>
          </a:xfrm>
          <a:prstGeom prst="rect">
            <a:avLst/>
          </a:prstGeom>
          <a:solidFill>
            <a:srgbClr val="3B82F6">
              <a:alpha val="20000"/>
            </a:srgbClr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502920" y="381304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1353312" y="37947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node_modules nearly broke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1353312" y="41605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First push attempt tried to upload 180,000 files in node_modules GitHub rejected it due to file count and size limits.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4663440" y="3813048"/>
            <a:ext cx="749808" cy="237744"/>
          </a:xfrm>
          <a:prstGeom prst="rect">
            <a:avLst/>
          </a:prstGeom>
          <a:solidFill>
            <a:srgbClr val="00A651">
              <a:alpha val="20000"/>
            </a:srgbClr>
          </a:solidFill>
          <a:ln cap="flat" cmpd="sng" w="9525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4663440" y="381304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5532120" y="3794760"/>
            <a:ext cx="31089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Created .gitignore with node_modules/ excluded. Learned the difference between development dependencies and source code.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9"/>
          <p:cNvCxnSpPr/>
          <p:nvPr/>
        </p:nvCxnSpPr>
        <p:spPr>
          <a:xfrm>
            <a:off x="4617720" y="3840480"/>
            <a:ext cx="0" cy="777240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09  /  FUTURE 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I'd Build Next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365760" y="1353312"/>
            <a:ext cx="4297680" cy="1078992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502920" y="1481328"/>
            <a:ext cx="475488" cy="475488"/>
          </a:xfrm>
          <a:prstGeom prst="ellipse">
            <a:avLst/>
          </a:prstGeom>
          <a:solidFill>
            <a:srgbClr val="F5A623">
              <a:alpha val="14901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0" name="Google Shape;4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545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0"/>
          <p:cNvSpPr/>
          <p:nvPr/>
        </p:nvSpPr>
        <p:spPr>
          <a:xfrm>
            <a:off x="1097280" y="14447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1097280" y="165506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Production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502920" y="1975104"/>
            <a:ext cx="40416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Replace CSV with PostgreSQL or BigQuery. Add indexed queries on session_id and timestamp for sub-second lookups on millions of rows.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365760" y="2560320"/>
            <a:ext cx="4297680" cy="1078992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502920" y="2688336"/>
            <a:ext cx="475488" cy="475488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2752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0"/>
          <p:cNvSpPr/>
          <p:nvPr/>
        </p:nvSpPr>
        <p:spPr>
          <a:xfrm>
            <a:off x="1097280" y="265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1097280" y="286207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Streaming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502920" y="3182112"/>
            <a:ext cx="40416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Add WebSocket support for live telemetry. Engineers could watch a vehicle's sensor data update in real-time as it drives critical for autonomy testing.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365760" y="3767328"/>
            <a:ext cx="4297680" cy="1078992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502920" y="3895344"/>
            <a:ext cx="475488" cy="475488"/>
          </a:xfrm>
          <a:prstGeom prst="ellipse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2" name="Google Shape;45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39593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0"/>
          <p:cNvSpPr/>
          <p:nvPr/>
        </p:nvSpPr>
        <p:spPr>
          <a:xfrm>
            <a:off x="1097280" y="385876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1097280" y="406908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GPS Map Visualization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502920" y="4389120"/>
            <a:ext cx="40416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Use the latitude/longitude columns with Leaflet.js to plot the actual driving route on a map color-coded by speed or battery level.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4754740" y="1348675"/>
            <a:ext cx="4297800" cy="107910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5029200" y="1481328"/>
            <a:ext cx="475488" cy="475488"/>
          </a:xfrm>
          <a:prstGeom prst="ellipse">
            <a:avLst/>
          </a:prstGeom>
          <a:solidFill>
            <a:srgbClr val="F5A623">
              <a:alpha val="14901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8" name="Google Shape;45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3208" y="1545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0"/>
          <p:cNvSpPr/>
          <p:nvPr/>
        </p:nvSpPr>
        <p:spPr>
          <a:xfrm>
            <a:off x="5623560" y="14447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5623560" y="165506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 + Docker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5029200" y="1975104"/>
            <a:ext cx="40416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JWT authentication, Docker containerization, and CI/CD pipeline so the tool deploys automatically on every GitHub push.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4754802" y="2519170"/>
            <a:ext cx="4297800" cy="107910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5029200" y="2688336"/>
            <a:ext cx="475488" cy="475488"/>
          </a:xfrm>
          <a:prstGeom prst="ellipse">
            <a:avLst/>
          </a:prstGeom>
          <a:solidFill>
            <a:srgbClr val="00A651">
              <a:alpha val="14901"/>
            </a:srgbClr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3208" y="2752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0"/>
          <p:cNvSpPr/>
          <p:nvPr/>
        </p:nvSpPr>
        <p:spPr>
          <a:xfrm>
            <a:off x="5623560" y="265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623560" y="286207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TypeScript Migration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5029200" y="3182112"/>
            <a:ext cx="40416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Rewrite the frontend in TypeScript as specified in the job description. Add type safety, interfaces for the API response shapes, and unit tests.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10  /  WHY THIS MATTERS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457200" y="475488"/>
            <a:ext cx="5303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This Aligns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with Rivian's Mission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365760" y="1920240"/>
            <a:ext cx="8412480" cy="585216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502920" y="199339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841248" y="19751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Develop data pipelines using Go or 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1"/>
          <p:cNvCxnSpPr/>
          <p:nvPr/>
        </p:nvCxnSpPr>
        <p:spPr>
          <a:xfrm>
            <a:off x="4389120" y="1993392"/>
            <a:ext cx="0" cy="438912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482" name="Google Shape;4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8" y="20299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1"/>
          <p:cNvSpPr/>
          <p:nvPr/>
        </p:nvSpPr>
        <p:spPr>
          <a:xfrm>
            <a:off x="4828032" y="197510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F5E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4F5E2"/>
                </a:solidFill>
                <a:latin typeface="Arial"/>
                <a:ea typeface="Arial"/>
                <a:cs typeface="Arial"/>
                <a:sym typeface="Arial"/>
              </a:rPr>
              <a:t>Built Python + FastAPI data pipeline that ingests, processes, and serves sensor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365760" y="2606040"/>
            <a:ext cx="8412480" cy="585216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502920" y="267919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841248" y="26609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Build internal web tools using TypeScript and React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Google Shape;487;p11"/>
          <p:cNvCxnSpPr/>
          <p:nvPr/>
        </p:nvCxnSpPr>
        <p:spPr>
          <a:xfrm>
            <a:off x="4389120" y="2679192"/>
            <a:ext cx="0" cy="438912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488" name="Google Shape;4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8" y="27157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1"/>
          <p:cNvSpPr/>
          <p:nvPr/>
        </p:nvSpPr>
        <p:spPr>
          <a:xfrm>
            <a:off x="4828032" y="266090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F5E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4F5E2"/>
                </a:solidFill>
                <a:latin typeface="Arial"/>
                <a:ea typeface="Arial"/>
                <a:cs typeface="Arial"/>
                <a:sym typeface="Arial"/>
              </a:rPr>
              <a:t>Built React frontend with search, filter, and Recharts visualizations — TypeScript-ready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365760" y="3291840"/>
            <a:ext cx="8412480" cy="585216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502963" y="3364913"/>
            <a:ext cx="34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841248" y="33467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Optimize backend services for performance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11"/>
          <p:cNvCxnSpPr/>
          <p:nvPr/>
        </p:nvCxnSpPr>
        <p:spPr>
          <a:xfrm>
            <a:off x="4389120" y="3364992"/>
            <a:ext cx="0" cy="438912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494" name="Google Shape;4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8" y="34015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"/>
          <p:cNvSpPr/>
          <p:nvPr/>
        </p:nvSpPr>
        <p:spPr>
          <a:xfrm>
            <a:off x="4828032" y="334670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F5E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4F5E2"/>
                </a:solidFill>
                <a:latin typeface="Arial"/>
                <a:ea typeface="Arial"/>
                <a:cs typeface="Arial"/>
                <a:sym typeface="Arial"/>
              </a:rPr>
              <a:t>In-memory pandas processing, parameterized queries, response limiting for scalability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365760" y="3977640"/>
            <a:ext cx="8412480" cy="585216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502920" y="405079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841248" y="40325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Collaborate with end-users and gather requirements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" name="Google Shape;499;p11"/>
          <p:cNvCxnSpPr/>
          <p:nvPr/>
        </p:nvCxnSpPr>
        <p:spPr>
          <a:xfrm>
            <a:off x="4389120" y="4050792"/>
            <a:ext cx="0" cy="438912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500" name="Google Shape;5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8" y="40873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1"/>
          <p:cNvSpPr/>
          <p:nvPr/>
        </p:nvSpPr>
        <p:spPr>
          <a:xfrm>
            <a:off x="4828032" y="403250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F5E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4F5E2"/>
                </a:solidFill>
                <a:latin typeface="Arial"/>
                <a:ea typeface="Arial"/>
                <a:cs typeface="Arial"/>
                <a:sym typeface="Arial"/>
              </a:rPr>
              <a:t>Designed the tool end-to-end from the perspective of an autonomy engineer needing fast data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007A3D"/>
          </a:solidFill>
          <a:ln cap="flat" cmpd="sng" w="9525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46908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1"/>
          <p:cNvSpPr/>
          <p:nvPr/>
        </p:nvSpPr>
        <p:spPr>
          <a:xfrm>
            <a:off x="749808" y="468172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github.com/</a:t>
            </a:r>
            <a:r>
              <a:rPr lang="en-US" sz="1000">
                <a:solidFill>
                  <a:srgbClr val="FFFFFF"/>
                </a:solidFill>
              </a:rPr>
              <a:t>revanth-p98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/rivian-sensor-explorer  —  Full source code, commit history, and README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1616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Revanth Pattela  |  Rivian Interview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7" name="Google Shape;5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73" y="3364993"/>
            <a:ext cx="25603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8" name="Google Shape;5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73" y="2029968"/>
            <a:ext cx="25603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9" name="Google Shape;5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73" y="2660906"/>
            <a:ext cx="25603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0" name="Google Shape;5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1" y="4027931"/>
            <a:ext cx="25603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502920" y="822960"/>
            <a:ext cx="109728" cy="347472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777240" y="7772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777240" y="17830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777240" y="2514600"/>
            <a:ext cx="2286000" cy="22860"/>
          </a:xfrm>
          <a:prstGeom prst="rect">
            <a:avLst/>
          </a:prstGeom>
          <a:solidFill>
            <a:srgbClr val="007A3D"/>
          </a:solidFill>
          <a:ln cap="flat" cmpd="sng" w="12700">
            <a:solidFill>
              <a:srgbClr val="00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777240" y="26974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1783080" y="26974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pattelarevanth@gmail.com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777240" y="3099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1783080" y="309981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github.com/</a:t>
            </a:r>
            <a:r>
              <a:rPr lang="en-US" sz="1200">
                <a:solidFill>
                  <a:srgbClr val="E8E8E8"/>
                </a:solidFill>
              </a:rPr>
              <a:t>revanth-p98/</a:t>
            </a: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rivian-sensor-explorer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777240" y="35021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1783080" y="35021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(443) 457-0558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777240" y="39044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1783080" y="39044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Huntsville, 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5760720" y="822960"/>
            <a:ext cx="3063240" cy="393192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943600" y="10058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A651"/>
                </a:solidFill>
                <a:latin typeface="Arial"/>
                <a:ea typeface="Arial"/>
                <a:cs typeface="Arial"/>
                <a:sym typeface="Arial"/>
              </a:rPr>
              <a:t>PROJECT 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5897880" y="1371600"/>
            <a:ext cx="2788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5907024" y="1408176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12"/>
          <p:cNvCxnSpPr/>
          <p:nvPr/>
        </p:nvCxnSpPr>
        <p:spPr>
          <a:xfrm>
            <a:off x="6931152" y="1463040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12"/>
          <p:cNvSpPr/>
          <p:nvPr/>
        </p:nvSpPr>
        <p:spPr>
          <a:xfrm>
            <a:off x="7022592" y="148132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Slides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5897880" y="2029968"/>
            <a:ext cx="2788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5907024" y="206654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12"/>
          <p:cNvCxnSpPr/>
          <p:nvPr/>
        </p:nvCxnSpPr>
        <p:spPr>
          <a:xfrm>
            <a:off x="6931152" y="2121408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12"/>
          <p:cNvSpPr/>
          <p:nvPr/>
        </p:nvSpPr>
        <p:spPr>
          <a:xfrm>
            <a:off x="7022592" y="213969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API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5897880" y="2688336"/>
            <a:ext cx="2788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5907024" y="272491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12"/>
          <p:cNvCxnSpPr/>
          <p:nvPr/>
        </p:nvCxnSpPr>
        <p:spPr>
          <a:xfrm>
            <a:off x="6931152" y="2779776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2"/>
          <p:cNvSpPr/>
          <p:nvPr/>
        </p:nvSpPr>
        <p:spPr>
          <a:xfrm>
            <a:off x="7022592" y="27980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Live Charts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5897880" y="3346704"/>
            <a:ext cx="2788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5907024" y="33832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1500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12"/>
          <p:cNvCxnSpPr/>
          <p:nvPr/>
        </p:nvCxnSpPr>
        <p:spPr>
          <a:xfrm>
            <a:off x="6931152" y="3438144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12"/>
          <p:cNvSpPr/>
          <p:nvPr/>
        </p:nvSpPr>
        <p:spPr>
          <a:xfrm>
            <a:off x="7022592" y="345643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Data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5897880" y="4005072"/>
            <a:ext cx="2788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5907024" y="4041648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5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A65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12"/>
          <p:cNvCxnSpPr/>
          <p:nvPr/>
        </p:nvCxnSpPr>
        <p:spPr>
          <a:xfrm>
            <a:off x="6931152" y="4096512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12"/>
          <p:cNvSpPr/>
          <p:nvPr/>
        </p:nvSpPr>
        <p:spPr>
          <a:xfrm>
            <a:off x="7022592" y="41148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Days to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A651"/>
          </a:solidFill>
          <a:ln cap="flat" cmpd="sng" w="12700">
            <a:solidFill>
              <a:srgbClr val="00A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Keep the World Adventurous Forever  ·  Rivian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2026-03-24T05:26:53Z</dcterms:created>
  <dc:creator>Revanth Pattela</dc:creator>
</cp:coreProperties>
</file>